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JetBrains Mono" panose="020B0604020202020204" charset="0"/>
      <p:regular r:id="rId13"/>
    </p:embeddedFont>
    <p:embeddedFont>
      <p:font typeface="JetBrains Mono Bold" panose="020B0604020202020204" charset="0"/>
      <p:regular r:id="rId14"/>
    </p:embeddedFont>
    <p:embeddedFont>
      <p:font typeface="JetBrains Mono Medium" panose="020B0604020202020204" charset="0"/>
      <p:regular r:id="rId15"/>
    </p:embeddedFont>
    <p:embeddedFont>
      <p:font typeface="JetBrains Mono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2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yperledger-fabric.readthedocs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yperledger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07182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09585" y="736600"/>
            <a:ext cx="518147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b="1" kern="100" spc="-11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HYPERLEDGER IN INSURANCE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070100"/>
            <a:ext cx="51814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144" dirty="0">
                <a:solidFill>
                  <a:srgbClr val="FFFFFF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HOW PERMISSIONED BLOCKCHAIN IMPROVES CLAIMS PROCESSING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3168650"/>
            <a:ext cx="518147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single claim crosses hospitals, surveyors, insurers, and reinsurers. The core problem is getting every party to agree on identical facts without relying on one company's central database.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07182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346200"/>
            <a:ext cx="6095848" cy="345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1DCC9B-37C9-1F0D-9A58-5ED94616B921}"/>
              </a:ext>
            </a:extLst>
          </p:cNvPr>
          <p:cNvSpPr/>
          <p:nvPr/>
        </p:nvSpPr>
        <p:spPr>
          <a:xfrm>
            <a:off x="589736" y="4733925"/>
            <a:ext cx="535371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JetBrains Mono" panose="020B0604020202020204" charset="0"/>
                <a:cs typeface="JetBrains Mono" panose="020B0604020202020204" charset="0"/>
              </a:rPr>
              <a:t>MSc Blockchain Technology</a:t>
            </a:r>
          </a:p>
          <a:p>
            <a:r>
              <a:rPr lang="en-U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JetBrains Mono" panose="020B0604020202020204" charset="0"/>
                <a:cs typeface="JetBrains Mono" panose="020B0604020202020204" charset="0"/>
              </a:rPr>
              <a:t>Roshani Kamble</a:t>
            </a:r>
          </a:p>
          <a:p>
            <a:r>
              <a:rPr lang="en-U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JetBrains Mono" panose="020B0604020202020204" charset="0"/>
                <a:cs typeface="JetBrains Mono" panose="020B0604020202020204" charset="0"/>
              </a:rPr>
              <a:t>Sakshi Raut</a:t>
            </a:r>
            <a:endParaRPr lang="en-US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JetBrains Mono" panose="020B0604020202020204" charset="0"/>
              <a:cs typeface="JetBrains Mono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/workflow/claim-lifecycle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10555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ONE CLAIM — MANY ORGANIZATIONS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31255"/>
            <a:ext cx="109725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Five independent entities must collaborate to resolve a single incident.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06176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328466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461816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CUSTOMER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2875756"/>
            <a:ext cx="195069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Files the initial notice of loss and submits incident photos.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64969" y="206176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64969" y="2328466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2461816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HOSPITAL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4969" y="2875756"/>
            <a:ext cx="1950691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Treats the patient and generates itemized medical bills.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353" y="206176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353" y="2328466"/>
            <a:ext cx="1950889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353" y="2461816"/>
            <a:ext cx="19508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SURVEYOR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353" y="2875756"/>
            <a:ext cx="1950889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Inspects physical damage and verifies treatment authenticity.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75936" y="206176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75936" y="2328466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9" name="Text 17"/>
          <p:cNvSpPr/>
          <p:nvPr/>
        </p:nvSpPr>
        <p:spPr>
          <a:xfrm>
            <a:off x="7375936" y="2461816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INSURER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75936" y="2875756"/>
            <a:ext cx="1950691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Checks policy limits, deductibles, and issues payout approval.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31320" y="206176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31320" y="2328466"/>
            <a:ext cx="1950691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23" name="Text 21"/>
          <p:cNvSpPr/>
          <p:nvPr/>
        </p:nvSpPr>
        <p:spPr>
          <a:xfrm>
            <a:off x="9631320" y="2461816"/>
            <a:ext cx="195079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REINSURER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31320" y="2875756"/>
            <a:ext cx="195079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Audits high-value claims to settle shared catastrophe liability.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545409"/>
          <a:ext cx="10972524" cy="1298542"/>
        </p:xfrm>
        <a:graphic>
          <a:graphicData uri="http://schemas.openxmlformats.org/drawingml/2006/table">
            <a:tbl>
              <a:tblPr/>
              <a:tblGrid>
                <a:gridCol w="219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01 DOCUMENTS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02 VERIFICATION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03 APPROVAL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04 PAYMENT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05 AUDIT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Bills and police logs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Coverage checks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Multi-party sign-off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Bank disbursement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Regulatory reporting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09585" y="6009084"/>
            <a:ext cx="1158211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kern="100" spc="32" dirty="0">
                <a:solidFill>
                  <a:srgbClr val="F0C45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Core friction:</a:t>
            </a:r>
            <a:r>
              <a:rPr lang="en-US" sz="1300" kern="100" spc="32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Each organization maintains its own separate siloed IT system.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/analysis/root-cause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10555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WHY IS THE PROCESS SLOW?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50305"/>
            <a:ext cx="5486263" cy="4598095"/>
          </a:xfrm>
          <a:custGeom>
            <a:avLst/>
            <a:gdLst/>
            <a:ahLst/>
            <a:cxnLst/>
            <a:rect l="l" t="t" r="r" b="b"/>
            <a:pathLst>
              <a:path w="5486263" h="4598095">
                <a:moveTo>
                  <a:pt x="9525" y="0"/>
                </a:moveTo>
                <a:lnTo>
                  <a:pt x="5486263" y="0"/>
                </a:lnTo>
                <a:lnTo>
                  <a:pt x="5486263" y="4598095"/>
                </a:lnTo>
                <a:lnTo>
                  <a:pt x="9525" y="4598095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1C1F22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650305"/>
            <a:ext cx="6350" cy="4598095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6" name="Text 4"/>
          <p:cNvSpPr/>
          <p:nvPr/>
        </p:nvSpPr>
        <p:spPr>
          <a:xfrm>
            <a:off x="844529" y="2736453"/>
            <a:ext cx="5022724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5C9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Separate records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Hospital, insurer, TPA and surveyor keep separate records.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5C9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Manual checking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Documents move through email, PDF, CSV and manual checking.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5C9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Mismatches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Records may not match.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48" y="1650305"/>
            <a:ext cx="5486263" cy="4598095"/>
          </a:xfrm>
          <a:custGeom>
            <a:avLst/>
            <a:gdLst/>
            <a:ahLst/>
            <a:cxnLst/>
            <a:rect l="l" t="t" r="r" b="b"/>
            <a:pathLst>
              <a:path w="5486263" h="4598095">
                <a:moveTo>
                  <a:pt x="0" y="0"/>
                </a:moveTo>
                <a:lnTo>
                  <a:pt x="5476738" y="0"/>
                </a:lnTo>
                <a:arcTo wR="9525" hR="9525" stAng="16200000" swAng="5400000"/>
                <a:lnTo>
                  <a:pt x="5486263" y="4588570"/>
                </a:lnTo>
                <a:arcTo wR="9525" hR="9525" stAng="0" swAng="5400000"/>
                <a:lnTo>
                  <a:pt x="0" y="4598095"/>
                </a:lnTo>
                <a:lnTo>
                  <a:pt x="0" y="0"/>
                </a:lnTo>
                <a:close/>
              </a:path>
            </a:pathLst>
          </a:custGeom>
          <a:solidFill>
            <a:srgbClr val="1C1F22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650305"/>
            <a:ext cx="6350" cy="4598095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9" name="Text 7"/>
          <p:cNvSpPr/>
          <p:nvPr/>
        </p:nvSpPr>
        <p:spPr>
          <a:xfrm>
            <a:off x="6330792" y="3342878"/>
            <a:ext cx="5022724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5C9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Repeat checks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same claim may be checked many times.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5C93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Harder oversight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Auditing and fraud detection become harder.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9498" y="1650305"/>
            <a:ext cx="12700" cy="459809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1" name="Text 9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/architecture/transition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10555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FROM MANY DATABASES TO ONE TRUSTED NETWORK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31255"/>
            <a:ext cx="109725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Replacing point-to-point synchronization with a shared immutable ledger.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264966"/>
            <a:ext cx="512045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FF5C9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BEFORE · SILOED 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2511326"/>
            <a:ext cx="481566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Fragmented and vulnerable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2925266"/>
            <a:ext cx="4815660" cy="207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party owns a proprietary database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Information moves through insecure point-to-point email and APIs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Reconciliation occurs after discrepancies appear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single shared source of operational truth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4829" y="2264966"/>
            <a:ext cx="554728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AFTER · FABRIC PERMISSIONED NETWORK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34829" y="2511326"/>
            <a:ext cx="554728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Unified and cryptographically verified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34829" y="2925266"/>
            <a:ext cx="5547281" cy="235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Vetted consortium members operate authorized peer nodes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Parties share verifiable claim transaction state in real time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single organization owns or controls the shared ledger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Transactions record verified state changes, keeping raw files off-chain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5769769"/>
            <a:ext cx="1097252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Consensus model: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Every authorized peer maintains an identical, cryptographically appended copy of the claim transaction history.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23687" y="2061766"/>
            <a:ext cx="12700" cy="3542903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711182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/framework/hyperledger-fabric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034355"/>
            <a:ext cx="680703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WHY FABRIC FOR INSURANCE?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74105"/>
          <a:ext cx="6807030" cy="3619408"/>
        </p:xfrm>
        <a:graphic>
          <a:graphicData uri="http://schemas.openxmlformats.org/drawingml/2006/table">
            <a:tbl>
              <a:tblPr/>
              <a:tblGrid>
                <a:gridCol w="204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4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IDENTITY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Only approved organizations can join.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CHAINCODE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Code containing insurance rules.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ENDORSEMENT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Required organizations approve a transaction.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PRIVATE DATA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Sensitive information goes only to selected members.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LEDGER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Stores transaction history.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WORLD STATE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Stores the current claim status.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110684"/>
            <a:ext cx="71118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kern="100" spc="32" dirty="0">
                <a:solidFill>
                  <a:srgbClr val="5AD4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Permissioned</a:t>
            </a:r>
            <a:r>
              <a:rPr lang="en-US" sz="1300" kern="100" spc="32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</a:t>
            </a:r>
            <a:r>
              <a:rPr lang="en-US" sz="1300" kern="100" spc="32" dirty="0">
                <a:solidFill>
                  <a:srgbClr val="5AD4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</a:t>
            </a:r>
            <a:r>
              <a:rPr lang="en-US" sz="1300" kern="100" spc="32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</a:t>
            </a:r>
            <a:r>
              <a:rPr lang="en-US" sz="1300" kern="100" spc="32" dirty="0">
                <a:solidFill>
                  <a:srgbClr val="5AD4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Auditable</a:t>
            </a:r>
            <a:r>
              <a:rPr lang="en-US" sz="1300" kern="100" spc="32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</a:t>
            </a:r>
            <a:r>
              <a:rPr lang="en-US" sz="1300" kern="100" spc="32" dirty="0">
                <a:solidFill>
                  <a:srgbClr val="5AD4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Automated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199" y="1533823"/>
            <a:ext cx="3555911" cy="355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21407" y="5162848"/>
            <a:ext cx="416549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protocol: enterprise modular DLT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3166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/architecture/core-components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43262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HOW DOES FABRIC WORK?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337" y="1953320"/>
            <a:ext cx="6478922" cy="279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3933" y="2279021"/>
            <a:ext cx="3562917" cy="190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USER OR INSURANCE APPLICATION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293933" y="2926914"/>
            <a:ext cx="3562917" cy="190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FABRIC GATEWAY → PEERS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93933" y="3472899"/>
            <a:ext cx="3562917" cy="381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CHAINCODE → ENDORSEMENT → ORDERING SERVICE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93933" y="4114313"/>
            <a:ext cx="3562917" cy="381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69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BLOCK → VALIDATION → LEDGER AND WORLD STATE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7380" y="5039320"/>
            <a:ext cx="347971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5AD4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PEER NODE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7380" y="5320605"/>
            <a:ext cx="330191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computer that stores and processes network data.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44889" y="5039320"/>
            <a:ext cx="347971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5AD4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CERTIFICATE AUTHORITY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44889" y="5320605"/>
            <a:ext cx="347971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Creates digital identities.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02397" y="5039320"/>
            <a:ext cx="347971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5AD4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MSP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102397" y="5320605"/>
            <a:ext cx="330191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Defines which identities and organizations are trusted.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60743" y="4912320"/>
            <a:ext cx="12700" cy="1013916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6" name="Shape 13"/>
          <p:cNvSpPr/>
          <p:nvPr/>
        </p:nvSpPr>
        <p:spPr>
          <a:xfrm>
            <a:off x="7918252" y="4912320"/>
            <a:ext cx="12700" cy="1013916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7" name="Text 14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WHAT HAPPENS WHEN A CLAIM IS SUBMITTED?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92213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28674" y="1149350"/>
            <a:ext cx="483857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Submit: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Customer or hospital sends the claim.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24442" y="1192213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43531" y="1149350"/>
            <a:ext cx="483857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Check rules: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Chaincode checks the policy.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258127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8674" y="2538412"/>
            <a:ext cx="483857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Endorse: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Required organizations approve.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24442" y="258127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43531" y="2538412"/>
            <a:ext cx="483857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Order: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The ordering service puts transactions in order.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3970338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674" y="3927475"/>
            <a:ext cx="483857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Validate: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Peers check the transaction and its latest claim version.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24442" y="3970338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3531" y="3927475"/>
            <a:ext cx="483857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Commit: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The valid transaction is added to the ledger.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585" y="535940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8674" y="5316538"/>
            <a:ext cx="105534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Update: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The claim becomes Approved, Rejected or Under Review.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82775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CHAINCODE = INSURANCE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422525"/>
            <a:ext cx="10972526" cy="593725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 CREATED → SUBMITTED → UNDER REVIEW → APPROVED or REJECTED → SETTLEMENT → CLOSED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3181350"/>
            <a:ext cx="5308467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the policy active?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the claimant valid?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the claim covered?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73643" y="3181350"/>
            <a:ext cx="5308467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the amount within the limit?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this a duplicate claim?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 all approvals complete?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270375"/>
            <a:ext cx="10972526" cy="70485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 example: if the claim is not Under Review, reject the change. If it is valid, set the claim to Approved.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9498" y="3181350"/>
            <a:ext cx="12700" cy="92392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8" name="Text 6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/data-architecture/storage-split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10555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ON-CHAIN VS OFF-CHAIN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50305"/>
          <a:ext cx="10972526" cy="1298542"/>
        </p:xfrm>
        <a:graphic>
          <a:graphicData uri="http://schemas.openxmlformats.org/drawingml/2006/table">
            <a:tbl>
              <a:tblPr/>
              <a:tblGrid>
                <a:gridCol w="548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ON-CHAIN — FABRIC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5AD4E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OFF-CHAIN — SECURE STORAGE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Claim ID, policy ID, status, timestamp, document hash and approval record.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Medical reports, bills, X-rays, images, large documents and sensitive personal data.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3113980"/>
            <a:ext cx="10972526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500" b="1" dirty="0">
                <a:solidFill>
                  <a:srgbClr val="F0C45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Document → secure storage → SHA-256 hash → Fabric ledger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hash helps prove that a document was not changed. A hash is not encryption.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/security/privacy-matrix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10555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WHO CAN SEE THE CLAIM DATA?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31255"/>
            <a:ext cx="1097252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Channels and Private Data Collections ensure strict need-to-know data segregation.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87380" y="2511326"/>
            <a:ext cx="2565336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HOSPITAL </a:t>
            </a:r>
            <a:r>
              <a:rPr lang="en-US" sz="1050" kern="100" spc="79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INSURER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7380" y="2764036"/>
            <a:ext cx="238754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Medical claims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7380" y="3177977"/>
            <a:ext cx="2387540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Diagnosis codes, itemized treatment bills, and admission records.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30512" y="2511326"/>
            <a:ext cx="2565336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INSURER </a:t>
            </a:r>
            <a:r>
              <a:rPr lang="en-US" sz="1050" kern="100" spc="79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TPA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30512" y="2764036"/>
            <a:ext cx="238754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30512" y="3177977"/>
            <a:ext cx="2387540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 terms, coverage limits, surveyor estimates, and approval tickets.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73643" y="2511326"/>
            <a:ext cx="2565336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INSURER </a:t>
            </a:r>
            <a:r>
              <a:rPr lang="en-US" sz="1050" kern="100" spc="79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REINSURER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73643" y="2764036"/>
            <a:ext cx="238754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Risk settlement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73643" y="3177977"/>
            <a:ext cx="2387540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Aggregated claim totals and risk exposure without individual patient identities.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16774" y="2511326"/>
            <a:ext cx="2565336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INSURER </a:t>
            </a:r>
            <a:r>
              <a:rPr lang="en-US" sz="1050" kern="100" spc="79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REGULATOR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16774" y="2764036"/>
            <a:ext cx="238754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Compliance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16774" y="3177977"/>
            <a:ext cx="2387540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Read-only audit access to settlement timeliness and fraud patterns.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585" y="5178723"/>
            <a:ext cx="10972526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Change Healthcare case study context: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Enterprise healthcare test networks demonstrated high-throughput claim processing across multiple clearinghouse stakeholders (reported test capability, not production performance). Production architectures use custom governance models.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585" y="606177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Reference: </a:t>
            </a:r>
            <a:r>
              <a:rPr lang="en-US" sz="1050" b="1" u="sng" kern="100" spc="10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hyperledger-fabric.readthedocs.io</a:t>
            </a:r>
            <a:r>
              <a:rPr lang="en-US" sz="1050" kern="100" spc="1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</a:t>
            </a:r>
            <a:r>
              <a:rPr lang="en-US" sz="1050" b="1" u="sng" kern="100" spc="10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hyperledger.org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46366" y="2358926"/>
            <a:ext cx="12700" cy="2654697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9498" y="2358926"/>
            <a:ext cx="12700" cy="2654697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1" name="Shape 19"/>
          <p:cNvSpPr/>
          <p:nvPr/>
        </p:nvSpPr>
        <p:spPr>
          <a:xfrm>
            <a:off x="8832629" y="2358926"/>
            <a:ext cx="12700" cy="2654697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2F0E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845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JetBrains Mono Bold</vt:lpstr>
      <vt:lpstr>Noto Color Emoji</vt:lpstr>
      <vt:lpstr>JetBrains Mono</vt:lpstr>
      <vt:lpstr>Arial</vt:lpstr>
      <vt:lpstr>JetBrains Mono Medium</vt:lpstr>
      <vt:lpstr>JetBrains Mono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Roshani Kamble</cp:lastModifiedBy>
  <cp:revision>2</cp:revision>
  <dcterms:created xsi:type="dcterms:W3CDTF">2026-10-03T17:08:56Z</dcterms:created>
  <dcterms:modified xsi:type="dcterms:W3CDTF">2026-10-06T07:24:11Z</dcterms:modified>
</cp:coreProperties>
</file>